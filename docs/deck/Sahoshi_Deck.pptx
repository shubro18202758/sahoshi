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owrah-bridge-night.jpg"/>
          <p:cNvPicPr>
            <a:picLocks noChangeAspect="1"/>
          </p:cNvPicPr>
          <p:nvPr/>
        </p:nvPicPr>
        <p:blipFill>
          <a:blip r:embed="rId2"/>
          <a:srcRect l="19501" r="1950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4880" y="0"/>
            <a:ext cx="128016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280459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5669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430"/>
              </a:spcAft>
            </a:pPr>
            <a:r>
              <a:rPr sz="5400" b="1" i="0">
                <a:solidFill>
                  <a:srgbClr val="FFFFFF"/>
                </a:solidFill>
                <a:latin typeface="Inter"/>
                <a:cs typeface="Noto Sans Bengali"/>
              </a:rPr>
              <a:t>থামিয়ে নয়,</a:t>
            </a:r>
          </a:p>
          <a:p>
            <a:pPr algn="l">
              <a:spcAft>
                <a:spcPts val="2430"/>
              </a:spcAft>
            </a:pPr>
            <a:r>
              <a:rPr sz="5400" b="1" i="0">
                <a:solidFill>
                  <a:srgbClr val="FFC800"/>
                </a:solidFill>
                <a:latin typeface="Inter"/>
                <a:cs typeface="Noto Sans Bengali"/>
              </a:rPr>
              <a:t>সামলে।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 i="0">
                <a:solidFill>
                  <a:srgbClr val="FFFFFF"/>
                </a:solidFill>
                <a:latin typeface="Inter"/>
                <a:cs typeface="Noto Sans Bengali"/>
              </a:rPr>
              <a:t>Keep Kolkata moving.</a:t>
            </a:r>
          </a:p>
          <a:p>
            <a:pPr algn="l">
              <a:spcAft>
                <a:spcPts val="675"/>
              </a:spcAft>
            </a:pPr>
            <a:r>
              <a:rPr sz="1500" b="0" i="0">
                <a:solidFill>
                  <a:srgbClr val="CBCBCB"/>
                </a:solidFill>
                <a:latin typeface="Inter"/>
                <a:cs typeface="Noto Sans Bengali"/>
              </a:rPr>
              <a:t>One live picture of Kolkata's roads, rain and crowds for the traffic police, KMC, disaster response and ambulance (108) crews. The AI proposes; a named officer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 i="0">
                <a:solidFill>
                  <a:srgbClr val="A6A6A6"/>
                </a:solidFill>
                <a:latin typeface="Inter"/>
                <a:cs typeface="Noto Sans Bengali"/>
              </a:rPr>
              <a:t>Open source (MIT) · runs on one on-premises AI computer · github.com/shubro18202758/sahoshi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739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 i="0">
                <a:solidFill>
                  <a:srgbClr val="A6A6A6"/>
                </a:solidFill>
                <a:latin typeface="Inter"/>
                <a:cs typeface="Noto Sans Bengali"/>
              </a:rPr>
              <a:t>Reference photo · not live · Dr. Moumita Sahana · CC BY-SA 4.0 · Wikimedia Commons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Kolkata loses its roads to the same few shocks, every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3566160" cy="2011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7568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 i="0">
                <a:solidFill>
                  <a:srgbClr val="FFFFFF"/>
                </a:solidFill>
                <a:latin typeface="Inter"/>
                <a:cs typeface="Noto Sans Bengali"/>
              </a:rPr>
              <a:t>251.6 mm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of rain in 24 h on 22–23 Sep 2025 — the heaviest in about four decades; roads went under within the hour, 8–12 people died, most by electrocution in waterlogged streets (IMD; Reuters/PTI).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79" y="1874519"/>
            <a:ext cx="3566160" cy="2011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79" y="207568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 i="0">
                <a:solidFill>
                  <a:srgbClr val="FFFFFF"/>
                </a:solidFill>
                <a:latin typeface="Inter"/>
                <a:cs typeface="Noto Sans Bengali"/>
              </a:rPr>
              <a:t>High tide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closes the outfall gates on the Hooghly — the same rain waterlogs far faster when it meets a high tide.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18" y="1874519"/>
            <a:ext cx="3566160" cy="2011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8" y="207568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 i="0">
                <a:solidFill>
                  <a:srgbClr val="FFFFFF"/>
                </a:solidFill>
                <a:latin typeface="Inter"/>
                <a:cs typeface="Noto Sans Bengali"/>
              </a:rPr>
              <a:t>10,000+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police a day on Durga Puja duty, about 30% on traffic, with ad-hoc one-ways and goods-vehicle bans (Kolkata Police, 2025).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79"/>
            <a:ext cx="3566160" cy="2011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7024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 i="0">
                <a:solidFill>
                  <a:srgbClr val="FFFFFF"/>
                </a:solidFill>
                <a:latin typeface="Inter"/>
                <a:cs typeface="Noto Sans Bengali"/>
              </a:rPr>
              <a:t>≈ 1 lakh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vehicles a day on Howrah Bridge alone; one breakdown cascades across both banks.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4069079"/>
            <a:ext cx="3566160" cy="2011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427024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 i="0">
                <a:solidFill>
                  <a:srgbClr val="FFFFFF"/>
                </a:solidFill>
                <a:latin typeface="Inter"/>
                <a:cs typeface="Noto Sans Bengali"/>
              </a:rPr>
              <a:t>15–45 min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corridor freezes for VIP movements between Nabanna, the city and the airport.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8" y="4069079"/>
            <a:ext cx="3566160" cy="2011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8" y="427024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 i="0">
                <a:solidFill>
                  <a:srgbClr val="FFFFFF"/>
                </a:solidFill>
                <a:latin typeface="Inter"/>
                <a:cs typeface="Noto Sans Bengali"/>
              </a:rPr>
              <a:t>One picture missing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traffic police, KMC, WBSDMA, the power utility and ambulance (108) each hold a piece — coordination runs on phone and radio.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SAHOSHI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See · Decide · Act — one shared, Bengali-first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2651760" cy="3017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057400"/>
            <a:ext cx="2286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Noto Sans Bengali"/>
              </a:rPr>
              <a:t>See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Roads, live traffic, rain, the Hooghly tide, pumps, IMD/NDMA alerts, Bengali and English news, field reports spoken in Bengali, camera road state — on one 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874519"/>
            <a:ext cx="2651760" cy="3017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2057400"/>
            <a:ext cx="2286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Noto Sans Bengali"/>
              </a:rPr>
              <a:t>Look ahead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Corridor congestion forecast 15–120 min ahead with uncertainty; a waterlogging nowcast ranks every road by risk with its lead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74519"/>
            <a:ext cx="2651760" cy="3017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057400"/>
            <a:ext cx="2286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Noto Sans Bengali"/>
              </a:rPr>
              <a:t>Decide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One proposal at a time with what changes if approved: a diversion, a signal-timing change tested in a traffic twin, a rolling hold instead of a freeze, an ambulance window, a live-wire hazard request.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874519"/>
            <a:ext cx="2651760" cy="3017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3728" y="2057400"/>
            <a:ext cx="2286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Noto Sans Bengali"/>
              </a:rPr>
              <a:t>Act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A named officer approves or rejects — nothing acts on its own; no answer, the plan holds. Advisories go out in বাংলা, English and हिंदी, read aloud.</a:t>
            </a:r>
          </a:p>
        </p:txBody>
      </p:sp>
      <p:pic>
        <p:nvPicPr>
          <p:cNvPr id="12" name="Picture 11" descr="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5074920"/>
            <a:ext cx="1975103" cy="1234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THE LIVE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Waterlogging risk and the next two hours, on every road</a:t>
            </a:r>
          </a:p>
        </p:txBody>
      </p:sp>
      <p:pic>
        <p:nvPicPr>
          <p:cNvPr id="4" name="Picture 3" descr="map-waterlogg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9494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783080"/>
            <a:ext cx="3931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Rain × tide × terrain × pumps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Rain: Open-Meteo, LIVE. Tide: Hooghly model at Garden Reach, MODELLED. Terrain: Copernicus 30 m DEM and OSM drains. Pumps: KMC FFEWS adapter, EMULATED until access.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Risk class 0–3 per road, depth band, lead time to deep water — and the drivers behind it, each labelled.</a:t>
            </a:r>
          </a:p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Forecast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Chronos-2 forecasts every corridor 15–120 min ahead with p10–p90 bands; crossings of 0.8 V/C become diversion proposals before the queue forms. SIMULATED traffic until Kolkata traffic is recorded.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The AI proposes. A named officer decides.</a:t>
            </a:r>
          </a:p>
        </p:txBody>
      </p:sp>
      <p:pic>
        <p:nvPicPr>
          <p:cNvPr id="4" name="Picture 3" descr="decide-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9494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783080"/>
            <a:ext cx="3931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Tested before it is shown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Every signal-timing proposal is simulated in a cell-transmission traffic twin of Kolkata against doing nothing: delay, queues, cross streets, the whole network. It is offered only if it helps without moving the jam.</a:t>
            </a:r>
          </a:p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Accountable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Evidence, what changes, confidence and assumptions on every card. Approve or reject is recorded with the officer's name. No answer: the current plan holds.</a:t>
            </a:r>
          </a:p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Explained in two languages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A local language model writes the rationale in English and Bengali; any number not in the twin's metrics is rejected.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FROM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Bengali voice reports and camera road state</a:t>
            </a:r>
          </a:p>
        </p:txBody>
      </p:sp>
      <p:pic>
        <p:nvPicPr>
          <p:cNvPr id="4" name="Picture 3" descr="voice-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486400" cy="3429000"/>
          </a:xfrm>
          <a:prstGeom prst="rect">
            <a:avLst/>
          </a:prstGeom>
        </p:spPr>
      </p:pic>
      <p:pic>
        <p:nvPicPr>
          <p:cNvPr id="5" name="Picture 4" descr="road-st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036" y="1737360"/>
            <a:ext cx="3740727" cy="3428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0352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An officer speaks in Bengali; the on-premises speech model returns place · kind · severity with the transcript — an unverified field report for a named officer to confirm. Audio is not stored.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530352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Qwen3-VL reads waterlogged / blocked / tree-fall / stalled bus / clear — roads and vehicles only. It refuses any question about people and never reads plates.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FOR CITIZENS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Check your road — in বাংলা, read aloud</a:t>
            </a:r>
          </a:p>
        </p:txBody>
      </p:sp>
      <p:pic>
        <p:nvPicPr>
          <p:cNvPr id="4" name="Picture 3" descr="citiz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916" y="1737360"/>
            <a:ext cx="2091527" cy="4526280"/>
          </a:xfrm>
          <a:prstGeom prst="rect">
            <a:avLst/>
          </a:prstGeom>
        </p:spPr>
      </p:pic>
      <p:pic>
        <p:nvPicPr>
          <p:cNvPr id="5" name="Picture 4" descr="dri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876" y="1737360"/>
            <a:ext cx="2091527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783080"/>
            <a:ext cx="47548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Plain words, own language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Waterlogging on your road, the tide and the rain, holds and diversions — in বাংলা, English and हिंदी, with a Listen button (synthetic voice).</a:t>
            </a:r>
          </a:p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Honest by design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Anything simulated or emulated says so; an officer's unverified report never reaches the public page.</a:t>
            </a:r>
          </a:p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Ambulance (108) crews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A one-tap green-corridor request that a named duty officer approves.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OPEN, ON-PREMISES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2025–26 open models on one control-room computer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94767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Chronos-2 (Apache-2.0)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4767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Zero-shot corridor forecasts; error 55% below the seasonal baseline in backtest (SIMULATED history)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106424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7919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Waterlogging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7919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Rain × tide × DEM × pumps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7919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Replay of 22–23 Sep 2025 on IMD-observed rain: 13 of 13 reported places flagged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106424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071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Signal twin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1071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Cell-transmission model + Webster / max-pressure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1071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Shockwave speed within 0.2% of theory; a 30-min city run in 0.12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77640"/>
            <a:ext cx="1106424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14223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Bengali Whisper + Indic Parler-TTS (Apache-2.0)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4223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11.2% word error, place 55/60; voice: places 60/60 (round trip)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09160"/>
            <a:ext cx="1106424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7375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7375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Qwen3-VL-8B (Apache-2.0)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87375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11 of 12 road states right; 9 of 9 refusal probes refused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40680"/>
            <a:ext cx="1106424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605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60527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pplx-decider-v1.2 (27B) + Gemma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60527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Typed answers in 1.0 s; 22 of 26 labelled Kolkata decisions; an officer approves every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A6A6A6"/>
                </a:solidFill>
                <a:latin typeface="Inter"/>
                <a:cs typeface="Noto Sans Bengali"/>
              </a:rPr>
              <a:t>No data leaves the control room; it keeps working when the internet fails in a cyclone. No licence fees.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EXPECTED IMPACT · MODELLED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Delay grows with the square of a freeze — so rolling holds change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5394960" cy="187451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19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FFFFFF"/>
                </a:solidFill>
                <a:latin typeface="Inter"/>
                <a:cs typeface="Noto Sans Bengali"/>
              </a:rPr>
              <a:t>100×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CBCBCB"/>
                </a:solidFill>
                <a:latin typeface="Inter"/>
                <a:cs typeface="Noto Sans Bengali"/>
              </a:rPr>
              <a:t>less junction-freeze delay (central case; range 25×–506×)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74519"/>
            <a:ext cx="5394960" cy="187451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19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FFFFFF"/>
                </a:solidFill>
                <a:latin typeface="Inter"/>
                <a:cs typeface="Noto Sans Bengali"/>
              </a:rPr>
              <a:t>357,188 → 3,572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CBCBCB"/>
                </a:solidFill>
                <a:latin typeface="Inter"/>
                <a:cs typeface="Noto Sans Bengali"/>
              </a:rPr>
              <a:t>commuter-minutes per VIP movement on the Nabanna → airport corridor (13 junctions, 29 km)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19"/>
            <a:ext cx="5394960" cy="187451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19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FFFFFF"/>
                </a:solidFill>
                <a:latin typeface="Inter"/>
                <a:cs typeface="Noto Sans Bengali"/>
              </a:rPr>
              <a:t>≈ 33,000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CBCBCB"/>
                </a:solidFill>
                <a:latin typeface="Inter"/>
                <a:cs typeface="Noto Sans Bengali"/>
              </a:rPr>
              <a:t>golden-hour minutes a year returned to ambulance (108) trips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931919"/>
            <a:ext cx="5394960" cy="187451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19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FFFFFF"/>
                </a:solidFill>
                <a:latin typeface="Inter"/>
                <a:cs typeface="Noto Sans Bengali"/>
              </a:rPr>
              <a:t>45–120 min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CBCBCB"/>
                </a:solidFill>
                <a:latin typeface="Inter"/>
                <a:cs typeface="Noto Sans Bengali"/>
              </a:rPr>
              <a:t>warning before a road goes under (2025 replay, IMD rain)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 i="0">
                <a:solidFill>
                  <a:srgbClr val="A6A6A6"/>
                </a:solidFill>
                <a:latin typeface="Inter"/>
                <a:cs typeface="Noto Sans Bengali"/>
              </a:rPr>
              <a:t>Model outputs on Kolkata's OpenStreetMap network under stated assumptions (IMPACT_REPORT.md) — not field measurements, and never a claim about lives saved.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Built to strengthen public institutions —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3566160" cy="1965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7568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FFFFFF"/>
                </a:solidFill>
                <a:latin typeface="Inter"/>
                <a:cs typeface="Noto Sans Bengali"/>
              </a:rPr>
              <a:t>Vehicles only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No faces, no persons, no tracking of individuals. Number plates stay masked until a named duty officer is on duty.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79" y="1874519"/>
            <a:ext cx="3566160" cy="1965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79" y="207568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FFFFFF"/>
                </a:solidFill>
                <a:latin typeface="Inter"/>
                <a:cs typeface="Noto Sans Bengali"/>
              </a:rPr>
              <a:t>Human in charge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The AI only proposes. A named officer approves every action; with no answer, the current plan holds. Every decision is audited.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18" y="1874519"/>
            <a:ext cx="3566160" cy="1965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8" y="207568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FFFFFF"/>
                </a:solidFill>
                <a:latin typeface="Inter"/>
                <a:cs typeface="Noto Sans Bengali"/>
              </a:rPr>
              <a:t>Honest labels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LIVE, MODELLED, SIMULATED, EMULATED — on every number and every feed that is not yet connected.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59"/>
            <a:ext cx="3566160" cy="1965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2452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FFFFFF"/>
                </a:solidFill>
                <a:latin typeface="Inter"/>
                <a:cs typeface="Noto Sans Bengali"/>
              </a:rPr>
              <a:t>Events, not people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News and social signals are aggregate, about places and situations; posters are never stored or scored.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4023359"/>
            <a:ext cx="3566160" cy="1965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422452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FFFFFF"/>
                </a:solidFill>
                <a:latin typeface="Inter"/>
                <a:cs typeface="Noto Sans Bengali"/>
              </a:rPr>
              <a:t>Fair enforcement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No e-challan can be approved against a theft victim; penalties are recommendations a human reviews.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8" y="4023359"/>
            <a:ext cx="3566160" cy="1965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8" y="4224527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FFFFFF"/>
                </a:solidFill>
                <a:latin typeface="Inter"/>
                <a:cs typeface="Noto Sans Bengali"/>
              </a:rPr>
              <a:t>Data stays home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On-premises, retention limits, in the spirit of the DPDP Act 2023.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A 12-month pilot through one monsoon and one Durga Puja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Noto Sans Bengali"/>
              </a:rPr>
              <a:t>Month 0–1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8308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Read-only data MoU: Kolkata Traffic Police, KMC (FFEWS), WBSDMA, ambulance (108); nodal officers named.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Noto Sans Bengali"/>
              </a:rPr>
              <a:t>Month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0604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Install the on-premises unit; City Pack finalised for the pilot division; adapters switched from EMULATED to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Noto Sans Bengali"/>
              </a:rPr>
              <a:t>Month 2–4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4290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Shadow mode: Sahoshi proposes, officers work as usual; weekly comparison.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Noto Sans Bengali"/>
              </a:rPr>
              <a:t>Month 5–12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25196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Live pilot (e.g. Esplanade – Park Street – Rashbehari – Gariahat) through the monsoon and Puja; officers approve.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Noto Sans Bengali"/>
              </a:rPr>
              <a:t>Month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07492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Independent review; city-wide roll-out over the next year.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783080"/>
            <a:ext cx="4389120" cy="4343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965960"/>
            <a:ext cx="3931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Noto Sans Bengali"/>
              </a:rPr>
              <a:t>Cost</a:t>
            </a:r>
          </a:p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Pilot, 12 months: ≈ ₹45–55 lakh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Two on-premises AI units ₹8–10 lakh · engineering ₹29 lakh · optional sensors ₹4 lakh · training ₹2 lakh · 15% contingency.</a:t>
            </a:r>
          </a:p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City-wide, two years: ≈ ₹2–2.5 crore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Running cost ≈ ₹40–60 lakh a year.</a:t>
            </a:r>
          </a:p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Noto Sans Bengali"/>
              </a:rPr>
              <a:t>Software licences: ₹0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Open models, OpenStreetMap, Sahoshi under MIT — existing CCTV, control rooms and FFEWS sensors are reused.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A city is a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6692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CBCBCB"/>
                </a:solidFill>
                <a:latin typeface="Inter"/>
                <a:cs typeface="Noto Sans Bengali"/>
              </a:rPr>
              <a:t>The engine — live picture, forecasting, nowcast, voice, vision, decision loop, console — is the same everywhere. A City Pack holds what differs: the OpenStreetMap extract and corridors, gazetteer, agencies and emergency numbers, plate format, UI languages, local scenarios and impact parameters.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CBCBCB"/>
                </a:solidFill>
                <a:latin typeface="Inter"/>
                <a:cs typeface="Noto Sans Bengali"/>
              </a:rPr>
              <a:t>The prototype proves it: it was first built for another Indian city, and the same build tools now produce Kolkata; a test builds both.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CBCBCB"/>
                </a:solidFill>
                <a:latin typeface="Inter"/>
                <a:cs typeface="Noto Sans Bengali"/>
              </a:rPr>
              <a:t>Per district: about 1–2 weeks of local data work, local adapters (CCTV, signals, flood sensors) and local SOPs. The software, models and hardware stay the same.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783080"/>
            <a:ext cx="4846320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9202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Noto Sans Bengali"/>
              </a:rPr>
              <a:t>Howrah · Bidhannagar</a:t>
            </a:r>
          </a:p>
          <a:p>
            <a:pPr algn="l">
              <a:spcAft>
                <a:spcPts val="495"/>
              </a:spcAft>
            </a:pPr>
            <a:r>
              <a:rPr sz="1100" b="0" i="0">
                <a:solidFill>
                  <a:srgbClr val="CBCBCB"/>
                </a:solidFill>
                <a:latin typeface="Inter"/>
                <a:cs typeface="Noto Sans Bengali"/>
              </a:rPr>
              <a:t>already inside the Kolkata pack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2862072"/>
            <a:ext cx="4846320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99923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Noto Sans Bengali"/>
              </a:rPr>
              <a:t>Siliguri</a:t>
            </a:r>
          </a:p>
          <a:p>
            <a:pPr algn="l">
              <a:spcAft>
                <a:spcPts val="495"/>
              </a:spcAft>
            </a:pPr>
            <a:r>
              <a:rPr sz="1100" b="0" i="0">
                <a:solidFill>
                  <a:srgbClr val="CBCBCB"/>
                </a:solidFill>
                <a:latin typeface="Inter"/>
                <a:cs typeface="Noto Sans Bengali"/>
              </a:rPr>
              <a:t>gateway to the North-East; NH10/NH31 choke-points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3941064"/>
            <a:ext cx="4846320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4078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Noto Sans Bengali"/>
              </a:rPr>
              <a:t>Asansol–Durgapur</a:t>
            </a:r>
          </a:p>
          <a:p>
            <a:pPr algn="l">
              <a:spcAft>
                <a:spcPts val="495"/>
              </a:spcAft>
            </a:pPr>
            <a:r>
              <a:rPr sz="1100" b="0" i="0">
                <a:solidFill>
                  <a:srgbClr val="CBCBCB"/>
                </a:solidFill>
                <a:latin typeface="Inter"/>
                <a:cs typeface="Noto Sans Bengali"/>
              </a:rPr>
              <a:t>industrial corridor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5020056"/>
            <a:ext cx="4846320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5157216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Noto Sans Bengali"/>
              </a:rPr>
              <a:t>Patna · Ranchi</a:t>
            </a:r>
          </a:p>
          <a:p>
            <a:pPr algn="l">
              <a:spcAft>
                <a:spcPts val="495"/>
              </a:spcAft>
            </a:pPr>
            <a:r>
              <a:rPr sz="1100" b="0" i="0">
                <a:solidFill>
                  <a:srgbClr val="CBCBCB"/>
                </a:solidFill>
                <a:latin typeface="Inter"/>
                <a:cs typeface="Noto Sans Bengali"/>
              </a:rPr>
              <a:t>Bihar and Jharkhand; Hindi already first-class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A6A6A6"/>
                </a:solidFill>
                <a:latin typeface="Inter"/>
                <a:cs typeface="Noto Sans Bengal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FFFFFF"/>
                </a:solidFill>
                <a:latin typeface="Inter"/>
                <a:cs typeface="Noto Sans Bengali"/>
              </a:rPr>
              <a:t>It runs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Working prototype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Console, citizen and driver pages, five AI services and the traffic twin, on one on-premises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Real Kolkata roads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49 junctions, 65 road segments, 125 km from OpenStreetMap; the Nabanna → airport route is 29 km.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40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Thousands of automated tests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Python suites, the console's unit and browser tests, contract replays and Rust tests — run on every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Inter"/>
                <a:cs typeface="Noto Sans Bengali"/>
              </a:rPr>
              <a:t>Open source</a:t>
            </a:r>
          </a:p>
          <a:p>
            <a:pPr algn="l">
              <a:spcAft>
                <a:spcPts val="540"/>
              </a:spcAft>
            </a:pPr>
            <a:r>
              <a:rPr sz="1200" b="0" i="0">
                <a:solidFill>
                  <a:srgbClr val="CBCBCB"/>
                </a:solidFill>
                <a:latin typeface="Inter"/>
                <a:cs typeface="Noto Sans Bengali"/>
              </a:rPr>
              <a:t>github.com/shubro18202758/sahoshi — setup, technical design, sample data and test cases.</a:t>
            </a:r>
          </a:p>
        </p:txBody>
      </p:sp>
      <p:pic>
        <p:nvPicPr>
          <p:cNvPr id="8" name="Picture 7" descr="replay-2025-09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879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25780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 i="0">
                <a:solidFill>
                  <a:srgbClr val="A6A6A6"/>
                </a:solidFill>
                <a:latin typeface="Inter"/>
                <a:cs typeface="Noto Sans Bengali"/>
              </a:rPr>
              <a:t>Replay of 22–23 Sep 2025 on IMD-observed rain (OBSERVED rain, MODELLED ponding): every news-reported waterlogged place on the network was flagged — the night almost the whole city flooded.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Noto Sans Bengali"/>
              </a:rPr>
              <a:t>Sahoshi</a:t>
            </a: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  ·  সাহসী  ·  Kolkata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A6A6A6"/>
                </a:solidFill>
                <a:latin typeface="Inter"/>
                <a:cs typeface="Noto Sans Bengal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ooghly-dusk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stacked-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280160"/>
            <a:ext cx="115200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154680"/>
            <a:ext cx="94457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430"/>
              </a:spcAft>
            </a:pPr>
            <a:r>
              <a:rPr sz="5400" b="1" i="0">
                <a:solidFill>
                  <a:srgbClr val="FFFFFF"/>
                </a:solidFill>
                <a:latin typeface="Inter"/>
                <a:cs typeface="Noto Sans Bengali"/>
              </a:rPr>
              <a:t>ধন্যবাদ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94457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170"/>
              </a:spcAft>
            </a:pPr>
            <a:r>
              <a:rPr sz="2600" b="1" i="0">
                <a:solidFill>
                  <a:srgbClr val="FFFFFF"/>
                </a:solidFill>
                <a:latin typeface="Inter"/>
                <a:cs typeface="Noto Sans Bengali"/>
              </a:rPr>
              <a:t>Thank you</a:t>
            </a:r>
          </a:p>
          <a:p>
            <a:pPr algn="ctr">
              <a:spcAft>
                <a:spcPts val="630"/>
              </a:spcAft>
            </a:pPr>
            <a:r>
              <a:rPr sz="1400" b="0" i="0">
                <a:solidFill>
                  <a:srgbClr val="CBCBCB"/>
                </a:solidFill>
                <a:latin typeface="Inter"/>
                <a:cs typeface="Noto Sans Bengali"/>
              </a:rPr>
              <a:t>github.com/shubro18202758/sahoshi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44652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5"/>
              </a:spcAft>
            </a:pPr>
            <a:r>
              <a:rPr sz="900" b="0" i="0">
                <a:solidFill>
                  <a:srgbClr val="A6A6A6"/>
                </a:solidFill>
                <a:latin typeface="Inter"/>
                <a:cs typeface="Noto Sans Bengali"/>
              </a:rPr>
              <a:t>Reference photo · not live · Alexey Komarov · CC BY-SA 4.0 ·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